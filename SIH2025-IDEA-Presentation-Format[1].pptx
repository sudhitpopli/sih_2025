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51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3FC36-B01A-44C1-AEF3-AA813B5053C3}" v="17" dt="2025-09-20T16:04:56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bhuti gupta" userId="2615f002ca898af5" providerId="LiveId" clId="{4B530D29-FF77-4A3D-B1CA-B86315433BEB}"/>
    <pc:docChg chg="undo custSel modSld">
      <pc:chgData name="vibhuti gupta" userId="2615f002ca898af5" providerId="LiveId" clId="{4B530D29-FF77-4A3D-B1CA-B86315433BEB}" dt="2025-09-20T16:05:33.884" v="149" actId="20577"/>
      <pc:docMkLst>
        <pc:docMk/>
      </pc:docMkLst>
      <pc:sldChg chg="addSp delSp modSp mod">
        <pc:chgData name="vibhuti gupta" userId="2615f002ca898af5" providerId="LiveId" clId="{4B530D29-FF77-4A3D-B1CA-B86315433BEB}" dt="2025-09-20T16:05:33.884" v="149" actId="20577"/>
        <pc:sldMkLst>
          <pc:docMk/>
          <pc:sldMk cId="0" sldId="290"/>
        </pc:sldMkLst>
        <pc:spChg chg="del mod">
          <ac:chgData name="vibhuti gupta" userId="2615f002ca898af5" providerId="LiveId" clId="{4B530D29-FF77-4A3D-B1CA-B86315433BEB}" dt="2025-09-20T16:04:49.564" v="128" actId="478"/>
          <ac:spMkLst>
            <pc:docMk/>
            <pc:sldMk cId="0" sldId="290"/>
            <ac:spMk id="2" creationId="{0B6750A7-9561-C46A-B40E-4758339F835E}"/>
          </ac:spMkLst>
        </pc:spChg>
        <pc:spChg chg="mod">
          <ac:chgData name="vibhuti gupta" userId="2615f002ca898af5" providerId="LiveId" clId="{4B530D29-FF77-4A3D-B1CA-B86315433BEB}" dt="2025-09-20T16:04:45.738" v="126" actId="1076"/>
          <ac:spMkLst>
            <pc:docMk/>
            <pc:sldMk cId="0" sldId="290"/>
            <ac:spMk id="3" creationId="{B74749BF-A83B-4909-0DB0-7D322E755E8D}"/>
          </ac:spMkLst>
        </pc:spChg>
        <pc:spChg chg="add mod">
          <ac:chgData name="vibhuti gupta" userId="2615f002ca898af5" providerId="LiveId" clId="{4B530D29-FF77-4A3D-B1CA-B86315433BEB}" dt="2025-09-20T15:59:18.699" v="76" actId="113"/>
          <ac:spMkLst>
            <pc:docMk/>
            <pc:sldMk cId="0" sldId="290"/>
            <ac:spMk id="12" creationId="{C30FC765-A32D-4E90-22FE-4F21B3D4A4B0}"/>
          </ac:spMkLst>
        </pc:spChg>
        <pc:spChg chg="add del mod ord">
          <ac:chgData name="vibhuti gupta" userId="2615f002ca898af5" providerId="LiveId" clId="{4B530D29-FF77-4A3D-B1CA-B86315433BEB}" dt="2025-09-20T15:59:35.621" v="78" actId="478"/>
          <ac:spMkLst>
            <pc:docMk/>
            <pc:sldMk cId="0" sldId="290"/>
            <ac:spMk id="13" creationId="{717F434E-B511-09C5-42C8-329E6EB5F4D3}"/>
          </ac:spMkLst>
        </pc:spChg>
        <pc:spChg chg="add mod ord">
          <ac:chgData name="vibhuti gupta" userId="2615f002ca898af5" providerId="LiveId" clId="{4B530D29-FF77-4A3D-B1CA-B86315433BEB}" dt="2025-09-20T16:00:24.332" v="83" actId="1582"/>
          <ac:spMkLst>
            <pc:docMk/>
            <pc:sldMk cId="0" sldId="290"/>
            <ac:spMk id="14" creationId="{F4ED9FF8-A5C8-C34F-F2AA-64CFF49B0BA9}"/>
          </ac:spMkLst>
        </pc:spChg>
        <pc:spChg chg="add">
          <ac:chgData name="vibhuti gupta" userId="2615f002ca898af5" providerId="LiveId" clId="{4B530D29-FF77-4A3D-B1CA-B86315433BEB}" dt="2025-09-20T16:02:50.495" v="98"/>
          <ac:spMkLst>
            <pc:docMk/>
            <pc:sldMk cId="0" sldId="290"/>
            <ac:spMk id="15" creationId="{80EA4AE7-EFF7-7D9A-75CD-98152A4CBCE7}"/>
          </ac:spMkLst>
        </pc:spChg>
        <pc:spChg chg="add">
          <ac:chgData name="vibhuti gupta" userId="2615f002ca898af5" providerId="LiveId" clId="{4B530D29-FF77-4A3D-B1CA-B86315433BEB}" dt="2025-09-20T16:03:00.577" v="101"/>
          <ac:spMkLst>
            <pc:docMk/>
            <pc:sldMk cId="0" sldId="290"/>
            <ac:spMk id="16" creationId="{A850603E-B2C1-8834-9B68-953471D06DCF}"/>
          </ac:spMkLst>
        </pc:spChg>
        <pc:spChg chg="add">
          <ac:chgData name="vibhuti gupta" userId="2615f002ca898af5" providerId="LiveId" clId="{4B530D29-FF77-4A3D-B1CA-B86315433BEB}" dt="2025-09-20T16:03:16.515" v="104"/>
          <ac:spMkLst>
            <pc:docMk/>
            <pc:sldMk cId="0" sldId="290"/>
            <ac:spMk id="17" creationId="{52AB0250-D5C9-199D-C263-F1A336532D77}"/>
          </ac:spMkLst>
        </pc:spChg>
        <pc:spChg chg="add del mod">
          <ac:chgData name="vibhuti gupta" userId="2615f002ca898af5" providerId="LiveId" clId="{4B530D29-FF77-4A3D-B1CA-B86315433BEB}" dt="2025-09-20T16:03:25.109" v="107" actId="478"/>
          <ac:spMkLst>
            <pc:docMk/>
            <pc:sldMk cId="0" sldId="290"/>
            <ac:spMk id="18" creationId="{72FAD7A8-EA6E-EDA3-8A54-92F4A5FA6305}"/>
          </ac:spMkLst>
        </pc:spChg>
        <pc:spChg chg="add del">
          <ac:chgData name="vibhuti gupta" userId="2615f002ca898af5" providerId="LiveId" clId="{4B530D29-FF77-4A3D-B1CA-B86315433BEB}" dt="2025-09-20T16:03:25.109" v="107" actId="478"/>
          <ac:spMkLst>
            <pc:docMk/>
            <pc:sldMk cId="0" sldId="290"/>
            <ac:spMk id="19" creationId="{A4939293-E120-3858-C558-BCE5B5B34111}"/>
          </ac:spMkLst>
        </pc:spChg>
        <pc:spChg chg="add mod">
          <ac:chgData name="vibhuti gupta" userId="2615f002ca898af5" providerId="LiveId" clId="{4B530D29-FF77-4A3D-B1CA-B86315433BEB}" dt="2025-09-20T16:05:33.884" v="149" actId="20577"/>
          <ac:spMkLst>
            <pc:docMk/>
            <pc:sldMk cId="0" sldId="290"/>
            <ac:spMk id="20" creationId="{57A1CE68-2C7D-2293-09BA-794DC5B37AC3}"/>
          </ac:spMkLst>
        </pc:spChg>
        <pc:picChg chg="add del mod">
          <ac:chgData name="vibhuti gupta" userId="2615f002ca898af5" providerId="LiveId" clId="{4B530D29-FF77-4A3D-B1CA-B86315433BEB}" dt="2025-09-20T15:56:53.687" v="17" actId="478"/>
          <ac:picMkLst>
            <pc:docMk/>
            <pc:sldMk cId="0" sldId="290"/>
            <ac:picMk id="5" creationId="{5F73120A-F97D-4F79-8541-E3943B55D802}"/>
          </ac:picMkLst>
        </pc:picChg>
        <pc:picChg chg="add mod">
          <ac:chgData name="vibhuti gupta" userId="2615f002ca898af5" providerId="LiveId" clId="{4B530D29-FF77-4A3D-B1CA-B86315433BEB}" dt="2025-09-20T15:59:25.964" v="77" actId="1076"/>
          <ac:picMkLst>
            <pc:docMk/>
            <pc:sldMk cId="0" sldId="290"/>
            <ac:picMk id="8" creationId="{FB7A363C-8CE4-9C42-ED54-0D76E5DF5B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ebp"/><Relationship Id="rId4" Type="http://schemas.openxmlformats.org/officeDocument/2006/relationships/image" Target="../media/image5.web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abs/10.5555/3455716.345589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ieeexplore.ieee.org/document/1088788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105119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258534" cy="3802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9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25050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Smart Traffic Management system for urban congestion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Transportation and logistics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Team DUI</a:t>
            </a:r>
            <a:endParaRPr lang="en-IN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327426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Solving traffic Using MARL models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-2240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  <a:br>
              <a:rPr lang="en-US" dirty="0"/>
            </a:br>
            <a:r>
              <a:rPr lang="en-US" dirty="0"/>
              <a:t>DUI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095185CA-957D-295E-19E4-1015CD167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998" y="4153024"/>
            <a:ext cx="5957740" cy="2323713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Proposed Solution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Multi-Agent Reinforcement Learning (MARL)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control traffic lights, where each signal acts as an intelligent agent.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with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QMIX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baseline algorithm for cooperative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 data from OpenCV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along with contextual features (time of day, road layout, etc.) to guide learning.</a:t>
            </a:r>
          </a:p>
          <a:p>
            <a:pPr lvl="0" defTabSz="914400" eaLnBrk="0" hangingPunct="0">
              <a:buFontTx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The baseline model was trained in a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SUMO simulation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environment to achieve a reliable level of performance.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4269B8F-9EA2-AB61-A0A9-2A6E3D0CC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999" y="1019628"/>
            <a:ext cx="6179790" cy="3062377"/>
          </a:xfrm>
          <a:prstGeom prst="rect">
            <a:avLst/>
          </a:prstGeom>
          <a:noFill/>
          <a:ln w="9525">
            <a:solidFill>
              <a:srgbClr val="FFA75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Uniqueness of our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 on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QMIX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extends it with richer real-world traffic data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MARL cooperation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enabling global optimization beyond local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approach ensures adaptability across cities and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Outperforms traditional systems in efficiency, coordination, and sustainability.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Grounded in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latest MARL research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moving beyond simulation to practical deployment.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7D4BE33F-2F27-5393-1420-0D014FD80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118" y="4139402"/>
            <a:ext cx="5777884" cy="2323713"/>
          </a:xfrm>
          <a:prstGeom prst="rect">
            <a:avLst/>
          </a:prstGeom>
          <a:noFill/>
          <a:ln w="9525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500" dirty="0">
                <a:solidFill>
                  <a:schemeClr val="tx2"/>
                </a:solidFill>
                <a:latin typeface="Arial" panose="020B0604020202020204" pitchFamily="34" charset="0"/>
              </a:rPr>
              <a:t>Addressing The Problem</a:t>
            </a: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5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Adapts in real-time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Unlike fixed timers (like in Odisha), our system actually learns and adjusts to current traffic instead of running on a set schedule.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Cuts congestion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By letting traffic lights “talk” to each other, intersections don’t get stuck and long queues are avoided.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Saves time &amp; fuel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Less waiting at red lights means smoother flow, lower fuel use, and fewer emissions.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255B5-3266-6B89-B4E0-9CE9597B5E06}"/>
              </a:ext>
            </a:extLst>
          </p:cNvPr>
          <p:cNvSpPr txBox="1"/>
          <p:nvPr/>
        </p:nvSpPr>
        <p:spPr>
          <a:xfrm>
            <a:off x="6476214" y="1281238"/>
            <a:ext cx="5554480" cy="256993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Custom Dashboard And A Sim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 user-friendly dashboard displays real-time traffic metrics, agent decisions, and performance statistics, allowing city authorities to monitor, analyze, and fine-tune traffic control strategies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This also allows the user to do manage traffic hands on, providing a safe guard against any malfunctions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SUMO is a very helpful tool which allows a lot of customizability.  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4ED9FF8-A5C8-C34F-F2AA-64CFF49B0BA9}"/>
              </a:ext>
            </a:extLst>
          </p:cNvPr>
          <p:cNvSpPr/>
          <p:nvPr/>
        </p:nvSpPr>
        <p:spPr>
          <a:xfrm>
            <a:off x="457200" y="3975028"/>
            <a:ext cx="11226800" cy="263072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6329" y="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DUI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4749BF-A83B-4909-0DB0-7D322E755E8D}"/>
              </a:ext>
            </a:extLst>
          </p:cNvPr>
          <p:cNvSpPr txBox="1"/>
          <p:nvPr/>
        </p:nvSpPr>
        <p:spPr>
          <a:xfrm>
            <a:off x="6193410" y="1398467"/>
            <a:ext cx="5247588" cy="96949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IOT sensors, Cameras, Traffic lights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7A363C-8CE4-9C42-ED54-0D76E5DF5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32" y="4469602"/>
            <a:ext cx="10380133" cy="18692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0FC765-A32D-4E90-22FE-4F21B3D4A4B0}"/>
              </a:ext>
            </a:extLst>
          </p:cNvPr>
          <p:cNvSpPr txBox="1"/>
          <p:nvPr/>
        </p:nvSpPr>
        <p:spPr>
          <a:xfrm>
            <a:off x="2946399" y="3975028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Flow Architecture</a:t>
            </a:r>
            <a:endParaRPr lang="en-IN" sz="25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57A1CE68-2C7D-2293-09BA-794DC5B37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90" y="1398467"/>
            <a:ext cx="5585110" cy="2139047"/>
          </a:xfrm>
          <a:prstGeom prst="rect">
            <a:avLst/>
          </a:prstGeom>
          <a:noFill/>
          <a:ln w="9525">
            <a:solidFill>
              <a:schemeClr val="accent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hangingPunct="0"/>
            <a:r>
              <a:rPr lang="en-IN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Front 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JavaScript, CSS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Back 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(Flask)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Simulator: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SUMO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AI/ML Model Code: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Connector: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Module for Traffic Volume: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(OpenCV)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6329" y="-576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  <a:br>
              <a:rPr lang="en-US" dirty="0"/>
            </a:br>
            <a:r>
              <a:rPr lang="en-US" dirty="0"/>
              <a:t>DUI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880" y="-204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51063F-850E-F0C8-1967-FFF163E4665E}"/>
              </a:ext>
            </a:extLst>
          </p:cNvPr>
          <p:cNvSpPr txBox="1"/>
          <p:nvPr/>
        </p:nvSpPr>
        <p:spPr>
          <a:xfrm>
            <a:off x="857839" y="4213781"/>
            <a:ext cx="888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B40DDE-3364-32AD-3445-64F0EA439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31" y="991851"/>
            <a:ext cx="6122708" cy="2806481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500" dirty="0">
                <a:solidFill>
                  <a:schemeClr val="tx2"/>
                </a:solidFill>
                <a:latin typeface="Arial" panose="020B0604020202020204" pitchFamily="34" charset="0"/>
              </a:rPr>
              <a:t>Why is it feasible?</a:t>
            </a:r>
            <a:endParaRPr kumimoji="0" lang="en-US" altLang="en-US" sz="25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Proven approach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MARL with QMIX has shown success in multi-agent coordination, making it suitable for traffic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support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SUMO provides a realistic environment for training and benchmarking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design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Centralized training and decentralized execution allow stepwise deployment, from single intersections to citywide networks.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Long-term benefits include reduced congestion, fuel savings, lower emissions, and improved travel times.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88EB6-8A23-D38F-16F8-165CB73E233F}"/>
              </a:ext>
            </a:extLst>
          </p:cNvPr>
          <p:cNvSpPr txBox="1"/>
          <p:nvPr/>
        </p:nvSpPr>
        <p:spPr>
          <a:xfrm>
            <a:off x="7051249" y="3429000"/>
            <a:ext cx="499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DB0880E-7C65-7AFC-53E1-CFD5EC4FF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994" y="3783510"/>
            <a:ext cx="5838006" cy="3062377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ctr" defTabSz="914400" eaLnBrk="0" hangingPunct="0"/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Potential Challenges and risks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Simulation-to-reality gap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Models trained in SUMO may not directly translate to real-world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Coordinating a large number of intersections increases complexity and is hard.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limitations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Real-time traffic data may be inconsistent or unavailable in some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readiness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Not all cities have the digital systems needed for MARL-based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500" b="1" dirty="0">
                <a:latin typeface="Arial" panose="020B0604020202020204" pitchFamily="34" charset="0"/>
              </a:rPr>
              <a:t>In India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QMIX model hasn’t been used </a:t>
            </a:r>
            <a:r>
              <a:rPr lang="en-US" altLang="en-US" sz="1500" dirty="0">
                <a:latin typeface="Arial" panose="020B0604020202020204" pitchFamily="34" charset="0"/>
              </a:rPr>
              <a:t>within India’s context, so it may lead to some very glaring issues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A6CCCD-0AAE-7BF2-61DC-D726BCC030C6}"/>
              </a:ext>
            </a:extLst>
          </p:cNvPr>
          <p:cNvSpPr txBox="1"/>
          <p:nvPr/>
        </p:nvSpPr>
        <p:spPr>
          <a:xfrm>
            <a:off x="127492" y="3852877"/>
            <a:ext cx="6122708" cy="306237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Overcoming the challenges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Domain adaptation &amp; transfer learning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Bridge the gap between SUMO simulations and real-world deployment.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Advanced MARL methods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Use hierarchical or graph-based MARL to manage large-scale road networks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Data integration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Combine OpenCV datasets with sensor, GPS, and crowdsourced mobility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Incremental deployment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Start with hybrid AI-assisted systems in areas with limited infrastructure.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QMIX Variation-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Using a different variation of QMIX like QTRAN++ can improve scalability of the model.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58C2194-6ADC-814D-5E02-5FC214AC7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943" y="1059277"/>
            <a:ext cx="5360880" cy="257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16329" y="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</a:t>
            </a:r>
          </a:p>
          <a:p>
            <a:pPr algn="ctr"/>
            <a:r>
              <a:rPr lang="en-US" dirty="0"/>
              <a:t>DUI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4CFBB1-60DA-C418-57D2-E5058E7FAC1A}"/>
              </a:ext>
            </a:extLst>
          </p:cNvPr>
          <p:cNvSpPr txBox="1"/>
          <p:nvPr/>
        </p:nvSpPr>
        <p:spPr>
          <a:xfrm>
            <a:off x="26407" y="1179965"/>
            <a:ext cx="6069593" cy="32162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Impact on the Target Audience</a:t>
            </a:r>
          </a:p>
          <a:p>
            <a:pPr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Commuters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Reduced waiting times at traffic lights, smoother journeys, and less daily stress.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Public transport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Buses and other services experience fewer delays, improving reliability.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Emergency services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Ambulances, fire trucks, and other priority vehicles can navigate traffic more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City authorities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Provides a data-driven system that simplifies traffic management and planning.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General public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Cleaner air, lower noise levels, and more </a:t>
            </a:r>
            <a:r>
              <a:rPr lang="en-US" sz="1600" dirty="0"/>
              <a:t>organized traffic flow.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01991-955F-73CB-9F02-397E2AB37991}"/>
              </a:ext>
            </a:extLst>
          </p:cNvPr>
          <p:cNvSpPr txBox="1"/>
          <p:nvPr/>
        </p:nvSpPr>
        <p:spPr>
          <a:xfrm>
            <a:off x="6323350" y="3760394"/>
            <a:ext cx="5727136" cy="30777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the Solution</a:t>
            </a:r>
          </a:p>
          <a:p>
            <a:pPr algn="ctr">
              <a:buNone/>
            </a:pPr>
            <a:endParaRPr lang="en-US" sz="25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Social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Safer streets, smoother traffic flow, and improved pedestrian experiences.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Economic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Less fuel consumption, shorter travel times, and increased overall productivity.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Environmental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Reduced vehicle emissions and lower pollution from idling traffic.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Technological/Future-ready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System can integrate with IoT devices and smart city infrastructure as they become available.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B13EB8-1529-1F87-D6CC-99D183C4C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797" y="1095375"/>
            <a:ext cx="3817560" cy="25479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046176-5263-8094-C945-9422F37FC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50" y="4409086"/>
            <a:ext cx="3979355" cy="242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https://dl.acm.org/doi/abs/10.5555/3455716.3455894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https://ieeexplore.ieee.org/document/10887881/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DUI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7854</TotalTime>
  <Words>846</Words>
  <Application>Microsoft Office PowerPoint</Application>
  <PresentationFormat>Widescreen</PresentationFormat>
  <Paragraphs>102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Solving traffic Using MARL models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Utsav Dwivedi</cp:lastModifiedBy>
  <cp:revision>150</cp:revision>
  <dcterms:created xsi:type="dcterms:W3CDTF">2013-12-12T18:46:50Z</dcterms:created>
  <dcterms:modified xsi:type="dcterms:W3CDTF">2025-09-20T16:47:54Z</dcterms:modified>
  <cp:category/>
</cp:coreProperties>
</file>